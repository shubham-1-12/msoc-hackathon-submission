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 Bold" charset="1" panose="02000503000000020004"/>
      <p:regular r:id="rId19"/>
    </p:embeddedFont>
    <p:embeddedFont>
      <p:font typeface="Inter" charset="1" panose="0200050300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2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6.jpe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0.jpe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52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2533202"/>
            <a:ext cx="9445523" cy="179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Smart Credit Card Fraud Investigation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663678"/>
            <a:ext cx="9445523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An AI-powered fraud detection system that predicts fraudulent transactions and generates continuous risk scores to help investigators prioritise suspicious activity.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6429223"/>
            <a:ext cx="4337294" cy="532800"/>
            <a:chOff x="0" y="0"/>
            <a:chExt cx="5783059" cy="710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83072" cy="710438"/>
            </a:xfrm>
            <a:custGeom>
              <a:avLst/>
              <a:gdLst/>
              <a:ahLst/>
              <a:cxnLst/>
              <a:rect r="r" b="b" t="t" l="l"/>
              <a:pathLst>
                <a:path h="710438" w="5783072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5656072" y="0"/>
                  </a:lnTo>
                  <a:cubicBezTo>
                    <a:pt x="5726176" y="0"/>
                    <a:pt x="5783072" y="56896"/>
                    <a:pt x="5783072" y="127000"/>
                  </a:cubicBezTo>
                  <a:lnTo>
                    <a:pt x="5783072" y="583438"/>
                  </a:lnTo>
                  <a:cubicBezTo>
                    <a:pt x="5783072" y="653542"/>
                    <a:pt x="5726176" y="710438"/>
                    <a:pt x="5656072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0A004D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62345" y="6447530"/>
            <a:ext cx="4911481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MSOC 2026 – DATA SCIENCE TRACK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41334" y="6447530"/>
            <a:ext cx="2338388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2B0AFF"/>
                </a:solidFill>
                <a:latin typeface="Inter"/>
                <a:ea typeface="Inter"/>
                <a:cs typeface="Inter"/>
                <a:sym typeface="Inter"/>
              </a:rPr>
              <a:t>DRAEV DEVS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7195242"/>
            <a:ext cx="103599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Team:</a:t>
            </a:r>
            <a:r>
              <a:rPr lang="en-US" sz="22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Shubham Vishwakarma · Tejas Shah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52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2238" y="860079"/>
            <a:ext cx="1543202" cy="395288"/>
            <a:chOff x="0" y="0"/>
            <a:chExt cx="2057603" cy="527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57654" cy="527050"/>
            </a:xfrm>
            <a:custGeom>
              <a:avLst/>
              <a:gdLst/>
              <a:ahLst/>
              <a:cxnLst/>
              <a:rect r="r" b="b" t="t" l="l"/>
              <a:pathLst>
                <a:path h="527050" w="2057654">
                  <a:moveTo>
                    <a:pt x="0" y="101219"/>
                  </a:moveTo>
                  <a:cubicBezTo>
                    <a:pt x="0" y="45339"/>
                    <a:pt x="45339" y="0"/>
                    <a:pt x="101219" y="0"/>
                  </a:cubicBezTo>
                  <a:lnTo>
                    <a:pt x="1956435" y="0"/>
                  </a:lnTo>
                  <a:cubicBezTo>
                    <a:pt x="2012315" y="0"/>
                    <a:pt x="2057654" y="45339"/>
                    <a:pt x="2057654" y="101219"/>
                  </a:cubicBezTo>
                  <a:lnTo>
                    <a:pt x="2057654" y="425831"/>
                  </a:lnTo>
                  <a:cubicBezTo>
                    <a:pt x="2057654" y="481711"/>
                    <a:pt x="2012315" y="527050"/>
                    <a:pt x="1956435" y="527050"/>
                  </a:cubicBezTo>
                  <a:lnTo>
                    <a:pt x="101219" y="527050"/>
                  </a:lnTo>
                  <a:cubicBezTo>
                    <a:pt x="45339" y="527050"/>
                    <a:pt x="0" y="481711"/>
                    <a:pt x="0" y="425831"/>
                  </a:cubicBezTo>
                  <a:close/>
                </a:path>
              </a:pathLst>
            </a:custGeom>
            <a:solidFill>
              <a:srgbClr val="0A004D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27674" y="889692"/>
            <a:ext cx="2186730" cy="297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399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1308202"/>
            <a:ext cx="9445523" cy="143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Traditional Fraud Detection is Failing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2970905"/>
            <a:ext cx="9445523" cy="687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Banks process millions of transactions daily, yet rule-based systems cannot keep pace with evolving fraud patterns — resulting in financial losses and eroded customer trust.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87476" y="3856139"/>
            <a:ext cx="9455048" cy="1266082"/>
            <a:chOff x="0" y="0"/>
            <a:chExt cx="12606731" cy="168810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606782" cy="1688084"/>
            </a:xfrm>
            <a:custGeom>
              <a:avLst/>
              <a:gdLst/>
              <a:ahLst/>
              <a:cxnLst/>
              <a:rect r="r" b="b" t="t" l="l"/>
              <a:pathLst>
                <a:path h="1688084" w="12606782">
                  <a:moveTo>
                    <a:pt x="0" y="127508"/>
                  </a:moveTo>
                  <a:cubicBezTo>
                    <a:pt x="0" y="57023"/>
                    <a:pt x="57023" y="0"/>
                    <a:pt x="127508" y="0"/>
                  </a:cubicBezTo>
                  <a:lnTo>
                    <a:pt x="12479274" y="0"/>
                  </a:lnTo>
                  <a:cubicBezTo>
                    <a:pt x="12549632" y="0"/>
                    <a:pt x="12606782" y="57023"/>
                    <a:pt x="12606782" y="127508"/>
                  </a:cubicBezTo>
                  <a:lnTo>
                    <a:pt x="12606782" y="1560576"/>
                  </a:lnTo>
                  <a:cubicBezTo>
                    <a:pt x="12606782" y="1630934"/>
                    <a:pt x="12549759" y="1688084"/>
                    <a:pt x="12479274" y="1688084"/>
                  </a:cubicBezTo>
                  <a:lnTo>
                    <a:pt x="127508" y="1688084"/>
                  </a:lnTo>
                  <a:cubicBezTo>
                    <a:pt x="57023" y="1688084"/>
                    <a:pt x="0" y="1631061"/>
                    <a:pt x="0" y="1560576"/>
                  </a:cubicBezTo>
                  <a:close/>
                </a:path>
              </a:pathLst>
            </a:custGeom>
            <a:solidFill>
              <a:srgbClr val="110080"/>
            </a:solidFill>
            <a:ln w="9526" cap="sq">
              <a:solidFill>
                <a:srgbClr val="2A1999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27687" y="4086825"/>
            <a:ext cx="8974636" cy="36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High False Positives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7687" y="4519165"/>
            <a:ext cx="8974636" cy="36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Legitimate transactions blocked, frustrating customers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87476" y="5292623"/>
            <a:ext cx="9455048" cy="1266082"/>
            <a:chOff x="0" y="0"/>
            <a:chExt cx="12606731" cy="168810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606782" cy="1688084"/>
            </a:xfrm>
            <a:custGeom>
              <a:avLst/>
              <a:gdLst/>
              <a:ahLst/>
              <a:cxnLst/>
              <a:rect r="r" b="b" t="t" l="l"/>
              <a:pathLst>
                <a:path h="1688084" w="12606782">
                  <a:moveTo>
                    <a:pt x="0" y="127508"/>
                  </a:moveTo>
                  <a:cubicBezTo>
                    <a:pt x="0" y="57023"/>
                    <a:pt x="57023" y="0"/>
                    <a:pt x="127508" y="0"/>
                  </a:cubicBezTo>
                  <a:lnTo>
                    <a:pt x="12479274" y="0"/>
                  </a:lnTo>
                  <a:cubicBezTo>
                    <a:pt x="12549632" y="0"/>
                    <a:pt x="12606782" y="57023"/>
                    <a:pt x="12606782" y="127508"/>
                  </a:cubicBezTo>
                  <a:lnTo>
                    <a:pt x="12606782" y="1560576"/>
                  </a:lnTo>
                  <a:cubicBezTo>
                    <a:pt x="12606782" y="1630934"/>
                    <a:pt x="12549759" y="1688084"/>
                    <a:pt x="12479274" y="1688084"/>
                  </a:cubicBezTo>
                  <a:lnTo>
                    <a:pt x="127508" y="1688084"/>
                  </a:lnTo>
                  <a:cubicBezTo>
                    <a:pt x="57023" y="1688084"/>
                    <a:pt x="0" y="1631061"/>
                    <a:pt x="0" y="1560576"/>
                  </a:cubicBezTo>
                  <a:close/>
                </a:path>
              </a:pathLst>
            </a:custGeom>
            <a:solidFill>
              <a:srgbClr val="110080"/>
            </a:solidFill>
            <a:ln w="9526" cap="sq">
              <a:solidFill>
                <a:srgbClr val="2A1999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27687" y="5523309"/>
            <a:ext cx="8974636" cy="36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Missed Fraud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7687" y="5955659"/>
            <a:ext cx="8974636" cy="36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Sophisticated patterns bypass static rules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87476" y="6729117"/>
            <a:ext cx="9455048" cy="1266082"/>
            <a:chOff x="0" y="0"/>
            <a:chExt cx="12606731" cy="16881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606782" cy="1688084"/>
            </a:xfrm>
            <a:custGeom>
              <a:avLst/>
              <a:gdLst/>
              <a:ahLst/>
              <a:cxnLst/>
              <a:rect r="r" b="b" t="t" l="l"/>
              <a:pathLst>
                <a:path h="1688084" w="12606782">
                  <a:moveTo>
                    <a:pt x="0" y="127508"/>
                  </a:moveTo>
                  <a:cubicBezTo>
                    <a:pt x="0" y="57023"/>
                    <a:pt x="57023" y="0"/>
                    <a:pt x="127508" y="0"/>
                  </a:cubicBezTo>
                  <a:lnTo>
                    <a:pt x="12479274" y="0"/>
                  </a:lnTo>
                  <a:cubicBezTo>
                    <a:pt x="12549632" y="0"/>
                    <a:pt x="12606782" y="57023"/>
                    <a:pt x="12606782" y="127508"/>
                  </a:cubicBezTo>
                  <a:lnTo>
                    <a:pt x="12606782" y="1560576"/>
                  </a:lnTo>
                  <a:cubicBezTo>
                    <a:pt x="12606782" y="1630934"/>
                    <a:pt x="12549759" y="1688084"/>
                    <a:pt x="12479274" y="1688084"/>
                  </a:cubicBezTo>
                  <a:lnTo>
                    <a:pt x="127508" y="1688084"/>
                  </a:lnTo>
                  <a:cubicBezTo>
                    <a:pt x="57023" y="1688084"/>
                    <a:pt x="0" y="1631061"/>
                    <a:pt x="0" y="1560576"/>
                  </a:cubicBezTo>
                  <a:close/>
                </a:path>
              </a:pathLst>
            </a:custGeom>
            <a:solidFill>
              <a:srgbClr val="110080"/>
            </a:solidFill>
            <a:ln w="9526" cap="sq">
              <a:solidFill>
                <a:srgbClr val="2A1999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227687" y="6959803"/>
            <a:ext cx="8974636" cy="36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Financial Losses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7687" y="7392143"/>
            <a:ext cx="8974636" cy="36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Billions lost annually to undetected fraud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87476" y="8165602"/>
            <a:ext cx="9455048" cy="1266082"/>
            <a:chOff x="0" y="0"/>
            <a:chExt cx="12606731" cy="168810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606782" cy="1688084"/>
            </a:xfrm>
            <a:custGeom>
              <a:avLst/>
              <a:gdLst/>
              <a:ahLst/>
              <a:cxnLst/>
              <a:rect r="r" b="b" t="t" l="l"/>
              <a:pathLst>
                <a:path h="1688084" w="12606782">
                  <a:moveTo>
                    <a:pt x="0" y="127508"/>
                  </a:moveTo>
                  <a:cubicBezTo>
                    <a:pt x="0" y="57023"/>
                    <a:pt x="57023" y="0"/>
                    <a:pt x="127508" y="0"/>
                  </a:cubicBezTo>
                  <a:lnTo>
                    <a:pt x="12479274" y="0"/>
                  </a:lnTo>
                  <a:cubicBezTo>
                    <a:pt x="12549632" y="0"/>
                    <a:pt x="12606782" y="57023"/>
                    <a:pt x="12606782" y="127508"/>
                  </a:cubicBezTo>
                  <a:lnTo>
                    <a:pt x="12606782" y="1560576"/>
                  </a:lnTo>
                  <a:cubicBezTo>
                    <a:pt x="12606782" y="1630934"/>
                    <a:pt x="12549759" y="1688084"/>
                    <a:pt x="12479274" y="1688084"/>
                  </a:cubicBezTo>
                  <a:lnTo>
                    <a:pt x="127508" y="1688084"/>
                  </a:lnTo>
                  <a:cubicBezTo>
                    <a:pt x="57023" y="1688084"/>
                    <a:pt x="0" y="1631061"/>
                    <a:pt x="0" y="1560576"/>
                  </a:cubicBezTo>
                  <a:close/>
                </a:path>
              </a:pathLst>
            </a:custGeom>
            <a:solidFill>
              <a:srgbClr val="110080"/>
            </a:solidFill>
            <a:ln w="9526" cap="sq">
              <a:solidFill>
                <a:srgbClr val="2A1999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227687" y="8396287"/>
            <a:ext cx="8974636" cy="36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No Explainability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27687" y="8828637"/>
            <a:ext cx="8974636" cy="36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Decisions lack transparency for investigators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52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826446"/>
            <a:ext cx="2058743" cy="532800"/>
            <a:chOff x="0" y="0"/>
            <a:chExt cx="2744991" cy="710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44978" cy="710438"/>
            </a:xfrm>
            <a:custGeom>
              <a:avLst/>
              <a:gdLst/>
              <a:ahLst/>
              <a:cxnLst/>
              <a:rect r="r" b="b" t="t" l="l"/>
              <a:pathLst>
                <a:path h="710438" w="2744978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617978" y="0"/>
                  </a:lnTo>
                  <a:cubicBezTo>
                    <a:pt x="2688082" y="0"/>
                    <a:pt x="2744978" y="56896"/>
                    <a:pt x="2744978" y="127000"/>
                  </a:cubicBezTo>
                  <a:lnTo>
                    <a:pt x="2744978" y="583438"/>
                  </a:lnTo>
                  <a:cubicBezTo>
                    <a:pt x="2744978" y="653542"/>
                    <a:pt x="2688082" y="710438"/>
                    <a:pt x="2617978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0A004D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2345" y="844753"/>
            <a:ext cx="2632920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OUR SOLUTION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453601"/>
            <a:ext cx="16303523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What We Built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698109"/>
            <a:ext cx="16303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Smart Credit Card Fraud Investigation is an end-to-end ML system combining accurate fraud prediction with an investigator-friendly dashboard and continuous risk scoring.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92238" y="4010025"/>
            <a:ext cx="567033" cy="567033"/>
          </a:xfrm>
          <a:custGeom>
            <a:avLst/>
            <a:gdLst/>
            <a:ahLst/>
            <a:cxnLst/>
            <a:rect r="r" b="b" t="t" l="l"/>
            <a:pathLst>
              <a:path h="567033" w="567033">
                <a:moveTo>
                  <a:pt x="0" y="0"/>
                </a:moveTo>
                <a:lnTo>
                  <a:pt x="567033" y="0"/>
                </a:lnTo>
                <a:lnTo>
                  <a:pt x="567033" y="567033"/>
                </a:lnTo>
                <a:lnTo>
                  <a:pt x="0" y="5670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000" t="0" r="-4999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92238" y="4921891"/>
            <a:ext cx="7974511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ML Fraud Model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5458720"/>
            <a:ext cx="7974511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Random Forest classifier trained on real transaction data for high-accuracy binary classification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321108" y="4010025"/>
            <a:ext cx="567033" cy="567033"/>
          </a:xfrm>
          <a:custGeom>
            <a:avLst/>
            <a:gdLst/>
            <a:ahLst/>
            <a:cxnLst/>
            <a:rect r="r" b="b" t="t" l="l"/>
            <a:pathLst>
              <a:path h="567033" w="567033">
                <a:moveTo>
                  <a:pt x="0" y="0"/>
                </a:moveTo>
                <a:lnTo>
                  <a:pt x="567033" y="0"/>
                </a:lnTo>
                <a:lnTo>
                  <a:pt x="567033" y="567033"/>
                </a:lnTo>
                <a:lnTo>
                  <a:pt x="0" y="5670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66" t="0" r="-9166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321108" y="4921891"/>
            <a:ext cx="7974654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Risk Score (0–100)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21108" y="5458720"/>
            <a:ext cx="7974654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Continuous scoring helps investigators prioritise the most suspicious transactions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92238" y="7018734"/>
            <a:ext cx="567033" cy="567033"/>
          </a:xfrm>
          <a:custGeom>
            <a:avLst/>
            <a:gdLst/>
            <a:ahLst/>
            <a:cxnLst/>
            <a:rect r="r" b="b" t="t" l="l"/>
            <a:pathLst>
              <a:path h="567033" w="567033">
                <a:moveTo>
                  <a:pt x="0" y="0"/>
                </a:moveTo>
                <a:lnTo>
                  <a:pt x="567033" y="0"/>
                </a:lnTo>
                <a:lnTo>
                  <a:pt x="567033" y="567033"/>
                </a:lnTo>
                <a:lnTo>
                  <a:pt x="0" y="5670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92238" y="7930601"/>
            <a:ext cx="7974511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Streamlit Dashboard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2238" y="8467430"/>
            <a:ext cx="7974511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Interactive interface for CSV upload, batch prediction, and result visualisation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9321108" y="7018734"/>
            <a:ext cx="567033" cy="567033"/>
          </a:xfrm>
          <a:custGeom>
            <a:avLst/>
            <a:gdLst/>
            <a:ahLst/>
            <a:cxnLst/>
            <a:rect r="r" b="b" t="t" l="l"/>
            <a:pathLst>
              <a:path h="567033" w="567033">
                <a:moveTo>
                  <a:pt x="0" y="0"/>
                </a:moveTo>
                <a:lnTo>
                  <a:pt x="567033" y="0"/>
                </a:lnTo>
                <a:lnTo>
                  <a:pt x="567033" y="567033"/>
                </a:lnTo>
                <a:lnTo>
                  <a:pt x="0" y="5670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833" t="0" r="-5833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321108" y="7930601"/>
            <a:ext cx="7974654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Re-trainable Pipeline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21108" y="8467430"/>
            <a:ext cx="7974654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Model can be retrained on new datasets to adapt to emerging fraud patterns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52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818407"/>
            <a:ext cx="1134370" cy="425644"/>
            <a:chOff x="0" y="0"/>
            <a:chExt cx="1512494" cy="5675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2443" cy="567563"/>
            </a:xfrm>
            <a:custGeom>
              <a:avLst/>
              <a:gdLst/>
              <a:ahLst/>
              <a:cxnLst/>
              <a:rect r="r" b="b" t="t" l="l"/>
              <a:pathLst>
                <a:path h="567563" w="1512443">
                  <a:moveTo>
                    <a:pt x="0" y="107188"/>
                  </a:moveTo>
                  <a:cubicBezTo>
                    <a:pt x="0" y="48006"/>
                    <a:pt x="48006" y="0"/>
                    <a:pt x="107188" y="0"/>
                  </a:cubicBezTo>
                  <a:lnTo>
                    <a:pt x="1405255" y="0"/>
                  </a:lnTo>
                  <a:cubicBezTo>
                    <a:pt x="1464437" y="0"/>
                    <a:pt x="1512443" y="48006"/>
                    <a:pt x="1512443" y="107188"/>
                  </a:cubicBezTo>
                  <a:lnTo>
                    <a:pt x="1512443" y="460375"/>
                  </a:lnTo>
                  <a:cubicBezTo>
                    <a:pt x="1512443" y="519557"/>
                    <a:pt x="1464437" y="567563"/>
                    <a:pt x="1405255" y="567563"/>
                  </a:cubicBezTo>
                  <a:lnTo>
                    <a:pt x="107188" y="567563"/>
                  </a:lnTo>
                  <a:cubicBezTo>
                    <a:pt x="48006" y="567563"/>
                    <a:pt x="0" y="519557"/>
                    <a:pt x="0" y="460375"/>
                  </a:cubicBezTo>
                  <a:close/>
                </a:path>
              </a:pathLst>
            </a:custGeom>
            <a:solidFill>
              <a:srgbClr val="0A004D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35704" y="842515"/>
            <a:ext cx="1761830" cy="329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4"/>
              </a:lnSpc>
            </a:pPr>
            <a:r>
              <a:rPr lang="en-US" sz="15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DATASET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305668"/>
            <a:ext cx="16303523" cy="76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5"/>
              </a:lnSpc>
            </a:pPr>
            <a:r>
              <a:rPr lang="en-US" sz="47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Kaggle Credit Card Fraud Dataset (ULB)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2601963"/>
            <a:ext cx="7015458" cy="4676927"/>
            <a:chOff x="0" y="0"/>
            <a:chExt cx="9353944" cy="623590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9353931" cy="6235954"/>
            </a:xfrm>
            <a:custGeom>
              <a:avLst/>
              <a:gdLst/>
              <a:ahLst/>
              <a:cxnLst/>
              <a:rect r="r" b="b" t="t" l="l"/>
              <a:pathLst>
                <a:path h="6235954" w="9353931">
                  <a:moveTo>
                    <a:pt x="0" y="0"/>
                  </a:moveTo>
                  <a:lnTo>
                    <a:pt x="9353931" y="0"/>
                  </a:lnTo>
                  <a:lnTo>
                    <a:pt x="9353931" y="6235954"/>
                  </a:lnTo>
                  <a:lnTo>
                    <a:pt x="0" y="6235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8" r="0" b="-67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600923" y="4540006"/>
            <a:ext cx="8704212" cy="75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 widely-used benchmark dataset for fraud detection research, featuring anonymised European cardholder transactions over two days.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92238" y="7732814"/>
            <a:ext cx="3924452" cy="1735636"/>
          </a:xfrm>
          <a:custGeom>
            <a:avLst/>
            <a:gdLst/>
            <a:ahLst/>
            <a:cxnLst/>
            <a:rect r="r" b="b" t="t" l="l"/>
            <a:pathLst>
              <a:path h="1735636" w="3924452">
                <a:moveTo>
                  <a:pt x="0" y="0"/>
                </a:moveTo>
                <a:lnTo>
                  <a:pt x="3924453" y="0"/>
                </a:lnTo>
                <a:lnTo>
                  <a:pt x="3924453" y="1735636"/>
                </a:lnTo>
                <a:lnTo>
                  <a:pt x="0" y="17356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94" r="0" b="-94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74277" y="7991027"/>
            <a:ext cx="3274666" cy="38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284,807 Transactions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4277" y="8447637"/>
            <a:ext cx="3274666" cy="40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Real-world card transactions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5118497" y="7732814"/>
            <a:ext cx="3924595" cy="1735636"/>
          </a:xfrm>
          <a:custGeom>
            <a:avLst/>
            <a:gdLst/>
            <a:ahLst/>
            <a:cxnLst/>
            <a:rect r="r" b="b" t="t" l="l"/>
            <a:pathLst>
              <a:path h="1735636" w="3924595">
                <a:moveTo>
                  <a:pt x="0" y="0"/>
                </a:moveTo>
                <a:lnTo>
                  <a:pt x="3924595" y="0"/>
                </a:lnTo>
                <a:lnTo>
                  <a:pt x="3924595" y="1735636"/>
                </a:lnTo>
                <a:lnTo>
                  <a:pt x="0" y="17356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96" r="0" b="-96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500535" y="7991027"/>
            <a:ext cx="3274809" cy="38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30 Input Features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00535" y="8447637"/>
            <a:ext cx="3274809" cy="75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Time, amount, and 28 PCA-transformed variables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9244908" y="7732814"/>
            <a:ext cx="3924452" cy="1735636"/>
          </a:xfrm>
          <a:custGeom>
            <a:avLst/>
            <a:gdLst/>
            <a:ahLst/>
            <a:cxnLst/>
            <a:rect r="r" b="b" t="t" l="l"/>
            <a:pathLst>
              <a:path h="1735636" w="3924452">
                <a:moveTo>
                  <a:pt x="0" y="0"/>
                </a:moveTo>
                <a:lnTo>
                  <a:pt x="3924452" y="0"/>
                </a:lnTo>
                <a:lnTo>
                  <a:pt x="3924452" y="1735636"/>
                </a:lnTo>
                <a:lnTo>
                  <a:pt x="0" y="17356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94" r="0" b="-94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626946" y="7991027"/>
            <a:ext cx="3274666" cy="38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Highly Imbalanced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26946" y="8447637"/>
            <a:ext cx="3274666" cy="75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Only 0.17% of transactions are fraudulent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13371166" y="7732814"/>
            <a:ext cx="3924595" cy="1735636"/>
          </a:xfrm>
          <a:custGeom>
            <a:avLst/>
            <a:gdLst/>
            <a:ahLst/>
            <a:cxnLst/>
            <a:rect r="r" b="b" t="t" l="l"/>
            <a:pathLst>
              <a:path h="1735636" w="3924595">
                <a:moveTo>
                  <a:pt x="0" y="0"/>
                </a:moveTo>
                <a:lnTo>
                  <a:pt x="3924596" y="0"/>
                </a:lnTo>
                <a:lnTo>
                  <a:pt x="3924596" y="1735636"/>
                </a:lnTo>
                <a:lnTo>
                  <a:pt x="0" y="17356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96" r="0" b="-96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3753205" y="7991027"/>
            <a:ext cx="3274809" cy="38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Binary Target: Class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753205" y="8447637"/>
            <a:ext cx="3274809" cy="75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0 = Legitimate, 1 = Fraudulent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52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779707"/>
            <a:ext cx="1537687" cy="220856"/>
            <a:chOff x="0" y="0"/>
            <a:chExt cx="2050250" cy="2944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50288" cy="294513"/>
            </a:xfrm>
            <a:custGeom>
              <a:avLst/>
              <a:gdLst/>
              <a:ahLst/>
              <a:cxnLst/>
              <a:rect r="r" b="b" t="t" l="l"/>
              <a:pathLst>
                <a:path h="294513" w="2050288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lnTo>
                    <a:pt x="1986788" y="0"/>
                  </a:lnTo>
                  <a:cubicBezTo>
                    <a:pt x="2021840" y="0"/>
                    <a:pt x="2050288" y="28448"/>
                    <a:pt x="2050288" y="63500"/>
                  </a:cubicBezTo>
                  <a:lnTo>
                    <a:pt x="2050288" y="231013"/>
                  </a:lnTo>
                  <a:cubicBezTo>
                    <a:pt x="2050288" y="266065"/>
                    <a:pt x="2021840" y="294513"/>
                    <a:pt x="1986788" y="294513"/>
                  </a:cubicBezTo>
                  <a:lnTo>
                    <a:pt x="63500" y="294513"/>
                  </a:lnTo>
                  <a:cubicBezTo>
                    <a:pt x="28448" y="294513"/>
                    <a:pt x="0" y="266065"/>
                    <a:pt x="0" y="231013"/>
                  </a:cubicBezTo>
                  <a:close/>
                </a:path>
              </a:pathLst>
            </a:custGeom>
            <a:solidFill>
              <a:srgbClr val="0A004D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77220" y="812597"/>
            <a:ext cx="2282133" cy="14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"/>
              </a:lnSpc>
            </a:pPr>
            <a:r>
              <a:rPr lang="en-US" sz="8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SYSTEM 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019327"/>
            <a:ext cx="1630352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End-to-End System Workflow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1568501"/>
            <a:ext cx="17217923" cy="179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From raw transaction data to actionable fraud alerts — the pipeline is designed for speed, accuracy, and investigator usability.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238" y="1827762"/>
            <a:ext cx="14630400" cy="8229600"/>
            <a:chOff x="0" y="0"/>
            <a:chExt cx="19507200" cy="109728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52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798614"/>
            <a:ext cx="1867348" cy="346024"/>
            <a:chOff x="0" y="0"/>
            <a:chExt cx="2489797" cy="4613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89835" cy="461391"/>
            </a:xfrm>
            <a:custGeom>
              <a:avLst/>
              <a:gdLst/>
              <a:ahLst/>
              <a:cxnLst/>
              <a:rect r="r" b="b" t="t" l="l"/>
              <a:pathLst>
                <a:path h="461391" w="2489835">
                  <a:moveTo>
                    <a:pt x="0" y="91313"/>
                  </a:moveTo>
                  <a:cubicBezTo>
                    <a:pt x="0" y="40894"/>
                    <a:pt x="40894" y="0"/>
                    <a:pt x="91313" y="0"/>
                  </a:cubicBezTo>
                  <a:lnTo>
                    <a:pt x="2398522" y="0"/>
                  </a:lnTo>
                  <a:cubicBezTo>
                    <a:pt x="2448941" y="0"/>
                    <a:pt x="2489835" y="40894"/>
                    <a:pt x="2489835" y="91313"/>
                  </a:cubicBezTo>
                  <a:lnTo>
                    <a:pt x="2489835" y="370078"/>
                  </a:lnTo>
                  <a:cubicBezTo>
                    <a:pt x="2489835" y="420497"/>
                    <a:pt x="2448941" y="461391"/>
                    <a:pt x="2398522" y="461391"/>
                  </a:cubicBezTo>
                  <a:lnTo>
                    <a:pt x="91313" y="461391"/>
                  </a:lnTo>
                  <a:cubicBezTo>
                    <a:pt x="40894" y="461391"/>
                    <a:pt x="0" y="420497"/>
                    <a:pt x="0" y="370078"/>
                  </a:cubicBezTo>
                  <a:close/>
                </a:path>
              </a:pathLst>
            </a:custGeom>
            <a:solidFill>
              <a:srgbClr val="0A004D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14425" y="831056"/>
            <a:ext cx="2537374" cy="25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2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MACHINE LEARNING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184072"/>
            <a:ext cx="16303523" cy="655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0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Why Random Forest?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2224240"/>
            <a:ext cx="7903216" cy="5268811"/>
            <a:chOff x="0" y="0"/>
            <a:chExt cx="10537622" cy="7025081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537571" cy="7025132"/>
            </a:xfrm>
            <a:custGeom>
              <a:avLst/>
              <a:gdLst/>
              <a:ahLst/>
              <a:cxnLst/>
              <a:rect r="r" b="b" t="t" l="l"/>
              <a:pathLst>
                <a:path h="7025132" w="10537571">
                  <a:moveTo>
                    <a:pt x="0" y="0"/>
                  </a:moveTo>
                  <a:lnTo>
                    <a:pt x="10537571" y="0"/>
                  </a:lnTo>
                  <a:lnTo>
                    <a:pt x="10537571" y="7025132"/>
                  </a:lnTo>
                  <a:lnTo>
                    <a:pt x="0" y="70251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0" r="0" b="-59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402070" y="4400398"/>
            <a:ext cx="7903216" cy="878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The Random Forest Classifier was selected as the core algorithm for its robustness, speed, and natural handling of imbalanced datasets — making it ideal for fraud detection.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068591" y="7828807"/>
            <a:ext cx="305543" cy="305543"/>
          </a:xfrm>
          <a:custGeom>
            <a:avLst/>
            <a:gdLst/>
            <a:ahLst/>
            <a:cxnLst/>
            <a:rect r="r" b="b" t="t" l="l"/>
            <a:pathLst>
              <a:path h="305543" w="305543">
                <a:moveTo>
                  <a:pt x="0" y="0"/>
                </a:moveTo>
                <a:lnTo>
                  <a:pt x="305543" y="0"/>
                </a:lnTo>
                <a:lnTo>
                  <a:pt x="305543" y="305543"/>
                </a:lnTo>
                <a:lnTo>
                  <a:pt x="0" y="3055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575" t="0" r="-7575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54378" y="7813034"/>
            <a:ext cx="7398096" cy="328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Fast Training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4378" y="8190757"/>
            <a:ext cx="7398096" cy="31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Efficient on large transaction datasets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311878" y="7828807"/>
            <a:ext cx="305543" cy="305543"/>
          </a:xfrm>
          <a:custGeom>
            <a:avLst/>
            <a:gdLst/>
            <a:ahLst/>
            <a:cxnLst/>
            <a:rect r="r" b="b" t="t" l="l"/>
            <a:pathLst>
              <a:path h="305543" w="305543">
                <a:moveTo>
                  <a:pt x="0" y="0"/>
                </a:moveTo>
                <a:lnTo>
                  <a:pt x="305543" y="0"/>
                </a:lnTo>
                <a:lnTo>
                  <a:pt x="305543" y="305543"/>
                </a:lnTo>
                <a:lnTo>
                  <a:pt x="0" y="3055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575" t="0" r="-7575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897666" y="7813034"/>
            <a:ext cx="7398096" cy="328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High Accuracy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97666" y="8190757"/>
            <a:ext cx="7398096" cy="31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Ensemble approach reduces overfitting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1068591" y="8808091"/>
            <a:ext cx="305543" cy="305543"/>
          </a:xfrm>
          <a:custGeom>
            <a:avLst/>
            <a:gdLst/>
            <a:ahLst/>
            <a:cxnLst/>
            <a:rect r="r" b="b" t="t" l="l"/>
            <a:pathLst>
              <a:path h="305543" w="305543">
                <a:moveTo>
                  <a:pt x="0" y="0"/>
                </a:moveTo>
                <a:lnTo>
                  <a:pt x="305543" y="0"/>
                </a:lnTo>
                <a:lnTo>
                  <a:pt x="305543" y="305543"/>
                </a:lnTo>
                <a:lnTo>
                  <a:pt x="0" y="3055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575" t="0" r="-7575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54378" y="8792318"/>
            <a:ext cx="7398096" cy="328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Handles Imbalance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54378" y="9170041"/>
            <a:ext cx="7398096" cy="31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Performs well even with 0.17% fraud rate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9311878" y="8808091"/>
            <a:ext cx="305543" cy="305543"/>
          </a:xfrm>
          <a:custGeom>
            <a:avLst/>
            <a:gdLst/>
            <a:ahLst/>
            <a:cxnLst/>
            <a:rect r="r" b="b" t="t" l="l"/>
            <a:pathLst>
              <a:path h="305543" w="305543">
                <a:moveTo>
                  <a:pt x="0" y="0"/>
                </a:moveTo>
                <a:lnTo>
                  <a:pt x="305543" y="0"/>
                </a:lnTo>
                <a:lnTo>
                  <a:pt x="305543" y="305543"/>
                </a:lnTo>
                <a:lnTo>
                  <a:pt x="0" y="3055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575" t="0" r="-7575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897666" y="8792318"/>
            <a:ext cx="7398096" cy="328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Easy Deployment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97666" y="9170041"/>
            <a:ext cx="7398096" cy="31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6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Lightweight, serialisable with Joblib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52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813787"/>
            <a:ext cx="2603154" cy="456905"/>
            <a:chOff x="0" y="0"/>
            <a:chExt cx="3470872" cy="6092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0910" cy="609219"/>
            </a:xfrm>
            <a:custGeom>
              <a:avLst/>
              <a:gdLst/>
              <a:ahLst/>
              <a:cxnLst/>
              <a:rect r="r" b="b" t="t" l="l"/>
              <a:pathLst>
                <a:path h="609219" w="3470910">
                  <a:moveTo>
                    <a:pt x="0" y="113157"/>
                  </a:moveTo>
                  <a:cubicBezTo>
                    <a:pt x="0" y="50673"/>
                    <a:pt x="50673" y="0"/>
                    <a:pt x="113157" y="0"/>
                  </a:cubicBezTo>
                  <a:lnTo>
                    <a:pt x="3357753" y="0"/>
                  </a:lnTo>
                  <a:cubicBezTo>
                    <a:pt x="3420237" y="0"/>
                    <a:pt x="3470910" y="50673"/>
                    <a:pt x="3470910" y="113157"/>
                  </a:cubicBezTo>
                  <a:lnTo>
                    <a:pt x="3470910" y="496062"/>
                  </a:lnTo>
                  <a:cubicBezTo>
                    <a:pt x="3470910" y="558546"/>
                    <a:pt x="3420237" y="609219"/>
                    <a:pt x="3357753" y="609219"/>
                  </a:cubicBezTo>
                  <a:lnTo>
                    <a:pt x="113157" y="609219"/>
                  </a:lnTo>
                  <a:cubicBezTo>
                    <a:pt x="50673" y="609219"/>
                    <a:pt x="0" y="558546"/>
                    <a:pt x="0" y="496062"/>
                  </a:cubicBezTo>
                  <a:close/>
                </a:path>
              </a:pathLst>
            </a:custGeom>
            <a:solidFill>
              <a:srgbClr val="0A004D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3743" y="841924"/>
            <a:ext cx="3214535" cy="35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5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MODEL PERFORMANCE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332014"/>
            <a:ext cx="16303523" cy="817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5"/>
              </a:lnSpc>
            </a:pPr>
            <a:r>
              <a:rPr lang="en-US" sz="49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Results on Held-Out Test Set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429770"/>
            <a:ext cx="16303523" cy="82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Evaluation metrics confirm strong discriminative performance on a held-out test set, with high precision and a competitive F1 score given the severe class imbalance.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3753745"/>
            <a:ext cx="8011268" cy="70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3"/>
              </a:lnSpc>
            </a:pPr>
            <a:r>
              <a:rPr lang="en-US" sz="65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90.59%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4748508"/>
            <a:ext cx="8011268" cy="40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4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Precision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5230263"/>
            <a:ext cx="8011268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</a:pPr>
            <a:r>
              <a:rPr lang="en-US" sz="19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Of predicted frauds, 90.59% were truly fraudulent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84494" y="3753745"/>
            <a:ext cx="8011268" cy="70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3"/>
              </a:lnSpc>
            </a:pPr>
            <a:r>
              <a:rPr lang="en-US" sz="65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78.57%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84494" y="4748508"/>
            <a:ext cx="8011268" cy="40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4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Recall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84494" y="5230263"/>
            <a:ext cx="8011268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</a:pPr>
            <a:r>
              <a:rPr lang="en-US" sz="19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78.57% of actual frauds were correctly detected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8" y="6369101"/>
            <a:ext cx="8011268" cy="70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3"/>
              </a:lnSpc>
            </a:pPr>
            <a:r>
              <a:rPr lang="en-US" sz="65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84.15%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2238" y="7363863"/>
            <a:ext cx="8011268" cy="40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4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F1 Score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2238" y="7845628"/>
            <a:ext cx="8011268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</a:pPr>
            <a:r>
              <a:rPr lang="en-US" sz="19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Harmonic mean of precision and recall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84494" y="6369101"/>
            <a:ext cx="8011268" cy="70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3"/>
              </a:lnSpc>
            </a:pPr>
            <a:r>
              <a:rPr lang="en-US" sz="65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86.29%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84494" y="7363863"/>
            <a:ext cx="8011268" cy="40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4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PR-AUC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84494" y="7845628"/>
            <a:ext cx="8011268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</a:pPr>
            <a:r>
              <a:rPr lang="en-US" sz="19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Area under the Precision-Recall curve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2238" y="8537677"/>
            <a:ext cx="16303523" cy="935384"/>
            <a:chOff x="0" y="0"/>
            <a:chExt cx="21738031" cy="12471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738082" cy="1247267"/>
            </a:xfrm>
            <a:custGeom>
              <a:avLst/>
              <a:gdLst/>
              <a:ahLst/>
              <a:cxnLst/>
              <a:rect r="r" b="b" t="t" l="l"/>
              <a:pathLst>
                <a:path h="1247267" w="21738082">
                  <a:moveTo>
                    <a:pt x="0" y="141478"/>
                  </a:moveTo>
                  <a:cubicBezTo>
                    <a:pt x="0" y="63373"/>
                    <a:pt x="63373" y="0"/>
                    <a:pt x="141478" y="0"/>
                  </a:cubicBezTo>
                  <a:lnTo>
                    <a:pt x="21596604" y="0"/>
                  </a:lnTo>
                  <a:cubicBezTo>
                    <a:pt x="21674710" y="0"/>
                    <a:pt x="21738082" y="63373"/>
                    <a:pt x="21738082" y="141478"/>
                  </a:cubicBezTo>
                  <a:lnTo>
                    <a:pt x="21738082" y="1105789"/>
                  </a:lnTo>
                  <a:cubicBezTo>
                    <a:pt x="21738082" y="1183894"/>
                    <a:pt x="21674710" y="1247267"/>
                    <a:pt x="21596604" y="1247267"/>
                  </a:cubicBezTo>
                  <a:lnTo>
                    <a:pt x="141478" y="1247267"/>
                  </a:lnTo>
                  <a:cubicBezTo>
                    <a:pt x="63373" y="1247140"/>
                    <a:pt x="0" y="1183894"/>
                    <a:pt x="0" y="1105789"/>
                  </a:cubicBezTo>
                  <a:close/>
                </a:path>
              </a:pathLst>
            </a:custGeom>
            <a:solidFill>
              <a:srgbClr val="11008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44651" y="8889502"/>
            <a:ext cx="315516" cy="252412"/>
            <a:chOff x="0" y="0"/>
            <a:chExt cx="420688" cy="33655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420751" cy="336550"/>
            </a:xfrm>
            <a:custGeom>
              <a:avLst/>
              <a:gdLst/>
              <a:ahLst/>
              <a:cxnLst/>
              <a:rect r="r" b="b" t="t" l="l"/>
              <a:pathLst>
                <a:path h="336550" w="420751">
                  <a:moveTo>
                    <a:pt x="0" y="0"/>
                  </a:moveTo>
                  <a:lnTo>
                    <a:pt x="420751" y="0"/>
                  </a:lnTo>
                  <a:lnTo>
                    <a:pt x="420751" y="336550"/>
                  </a:lnTo>
                  <a:lnTo>
                    <a:pt x="0" y="336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71" t="0" r="-353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812579" y="8768505"/>
            <a:ext cx="16145170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Confusion Matrix (Test Set):</a:t>
            </a:r>
            <a:r>
              <a:rPr lang="en-US" sz="1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True Negatives: 56,856 · False Positives: 8 · False Negatives: 21 · True Positives: 77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52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810663"/>
            <a:ext cx="1063828" cy="281578"/>
            <a:chOff x="0" y="0"/>
            <a:chExt cx="1418438" cy="3754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18336" cy="375412"/>
            </a:xfrm>
            <a:custGeom>
              <a:avLst/>
              <a:gdLst/>
              <a:ahLst/>
              <a:cxnLst/>
              <a:rect r="r" b="b" t="t" l="l"/>
              <a:pathLst>
                <a:path h="375412" w="1418336">
                  <a:moveTo>
                    <a:pt x="0" y="77343"/>
                  </a:moveTo>
                  <a:cubicBezTo>
                    <a:pt x="0" y="34671"/>
                    <a:pt x="34671" y="0"/>
                    <a:pt x="77343" y="0"/>
                  </a:cubicBezTo>
                  <a:lnTo>
                    <a:pt x="1340993" y="0"/>
                  </a:lnTo>
                  <a:cubicBezTo>
                    <a:pt x="1383792" y="0"/>
                    <a:pt x="1418336" y="34671"/>
                    <a:pt x="1418336" y="77343"/>
                  </a:cubicBezTo>
                  <a:lnTo>
                    <a:pt x="1418336" y="298069"/>
                  </a:lnTo>
                  <a:cubicBezTo>
                    <a:pt x="1418336" y="340868"/>
                    <a:pt x="1383665" y="375412"/>
                    <a:pt x="1340993" y="375412"/>
                  </a:cubicBezTo>
                  <a:lnTo>
                    <a:pt x="77343" y="375412"/>
                  </a:lnTo>
                  <a:cubicBezTo>
                    <a:pt x="34671" y="375412"/>
                    <a:pt x="0" y="340741"/>
                    <a:pt x="0" y="298069"/>
                  </a:cubicBezTo>
                  <a:close/>
                </a:path>
              </a:pathLst>
            </a:custGeom>
            <a:solidFill>
              <a:srgbClr val="0A004D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95823" y="852935"/>
            <a:ext cx="1771050" cy="187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"/>
              </a:lnSpc>
            </a:pPr>
            <a:r>
              <a:rPr lang="en-US" sz="10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DASHBOARD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115168"/>
            <a:ext cx="16303523" cy="558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3"/>
              </a:lnSpc>
            </a:pPr>
            <a:r>
              <a:rPr lang="en-US" sz="34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Investigator Dashboard — Streamlit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1950244"/>
            <a:ext cx="8777135" cy="5851322"/>
            <a:chOff x="0" y="0"/>
            <a:chExt cx="11702847" cy="7801762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1702796" cy="7801737"/>
            </a:xfrm>
            <a:custGeom>
              <a:avLst/>
              <a:gdLst/>
              <a:ahLst/>
              <a:cxnLst/>
              <a:rect r="r" b="b" t="t" l="l"/>
              <a:pathLst>
                <a:path h="7801737" w="11702796">
                  <a:moveTo>
                    <a:pt x="0" y="0"/>
                  </a:moveTo>
                  <a:lnTo>
                    <a:pt x="11702796" y="0"/>
                  </a:lnTo>
                  <a:lnTo>
                    <a:pt x="11702796" y="7801737"/>
                  </a:lnTo>
                  <a:lnTo>
                    <a:pt x="0" y="7801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" r="0" b="-2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00380" y="4644038"/>
            <a:ext cx="7104755" cy="454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9"/>
              </a:lnSpc>
            </a:pPr>
            <a:r>
              <a:rPr lang="en-US" sz="13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The Streamlit dashboard provides fraud investigators with a clean, intuitive interface to upload data, run predictions, and act on risk scores — no coding required.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92238" y="8038205"/>
            <a:ext cx="5364356" cy="1437980"/>
          </a:xfrm>
          <a:custGeom>
            <a:avLst/>
            <a:gdLst/>
            <a:ahLst/>
            <a:cxnLst/>
            <a:rect r="r" b="b" t="t" l="l"/>
            <a:pathLst>
              <a:path h="1437980" w="5364356">
                <a:moveTo>
                  <a:pt x="0" y="0"/>
                </a:moveTo>
                <a:lnTo>
                  <a:pt x="5364356" y="0"/>
                </a:lnTo>
                <a:lnTo>
                  <a:pt x="5364356" y="1437979"/>
                </a:lnTo>
                <a:lnTo>
                  <a:pt x="0" y="14379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68" r="0" b="-268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570684" y="8167688"/>
            <a:ext cx="207321" cy="259109"/>
            <a:chOff x="0" y="0"/>
            <a:chExt cx="276428" cy="3454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6424" cy="345480"/>
            </a:xfrm>
            <a:custGeom>
              <a:avLst/>
              <a:gdLst/>
              <a:ahLst/>
              <a:cxnLst/>
              <a:rect r="r" b="b" t="t" l="l"/>
              <a:pathLst>
                <a:path h="345480" w="276424">
                  <a:moveTo>
                    <a:pt x="0" y="0"/>
                  </a:moveTo>
                  <a:lnTo>
                    <a:pt x="276424" y="0"/>
                  </a:lnTo>
                  <a:lnTo>
                    <a:pt x="276424" y="345480"/>
                  </a:lnTo>
                  <a:lnTo>
                    <a:pt x="0" y="3454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54" t="0" r="-110356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76428" cy="355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83929" y="8719690"/>
            <a:ext cx="4980984" cy="279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CSV Upload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3929" y="9052617"/>
            <a:ext cx="4980984" cy="23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9"/>
              </a:lnSpc>
            </a:pPr>
            <a:r>
              <a:rPr lang="en-US" sz="13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Upload batch transaction files for bulk analysis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6461817" y="8038205"/>
            <a:ext cx="5364356" cy="1437980"/>
          </a:xfrm>
          <a:custGeom>
            <a:avLst/>
            <a:gdLst/>
            <a:ahLst/>
            <a:cxnLst/>
            <a:rect r="r" b="b" t="t" l="l"/>
            <a:pathLst>
              <a:path h="1437980" w="5364356">
                <a:moveTo>
                  <a:pt x="0" y="0"/>
                </a:moveTo>
                <a:lnTo>
                  <a:pt x="5364356" y="0"/>
                </a:lnTo>
                <a:lnTo>
                  <a:pt x="5364356" y="1437979"/>
                </a:lnTo>
                <a:lnTo>
                  <a:pt x="0" y="14379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68" r="0" b="-268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9040263" y="8167688"/>
            <a:ext cx="207321" cy="259109"/>
            <a:chOff x="0" y="0"/>
            <a:chExt cx="276428" cy="3454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6424" cy="345480"/>
            </a:xfrm>
            <a:custGeom>
              <a:avLst/>
              <a:gdLst/>
              <a:ahLst/>
              <a:cxnLst/>
              <a:rect r="r" b="b" t="t" l="l"/>
              <a:pathLst>
                <a:path h="345480" w="276424">
                  <a:moveTo>
                    <a:pt x="0" y="0"/>
                  </a:moveTo>
                  <a:lnTo>
                    <a:pt x="276424" y="0"/>
                  </a:lnTo>
                  <a:lnTo>
                    <a:pt x="276424" y="345480"/>
                  </a:lnTo>
                  <a:lnTo>
                    <a:pt x="0" y="3454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54" t="0" r="-110356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276428" cy="355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653508" y="8719690"/>
            <a:ext cx="4980984" cy="279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Fraud Prediction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53508" y="9052617"/>
            <a:ext cx="4980984" cy="23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9"/>
              </a:lnSpc>
            </a:pPr>
            <a:r>
              <a:rPr lang="en-US" sz="13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Instant binary classification for each transaction</a:t>
            </a:r>
          </a:p>
        </p:txBody>
      </p:sp>
      <p:sp>
        <p:nvSpPr>
          <p:cNvPr name="Freeform 25" id="25" descr="preencoded.png"/>
          <p:cNvSpPr/>
          <p:nvPr/>
        </p:nvSpPr>
        <p:spPr>
          <a:xfrm flipH="false" flipV="false" rot="0">
            <a:off x="11931406" y="8038205"/>
            <a:ext cx="5364356" cy="1437980"/>
          </a:xfrm>
          <a:custGeom>
            <a:avLst/>
            <a:gdLst/>
            <a:ahLst/>
            <a:cxnLst/>
            <a:rect r="r" b="b" t="t" l="l"/>
            <a:pathLst>
              <a:path h="1437980" w="5364356">
                <a:moveTo>
                  <a:pt x="0" y="0"/>
                </a:moveTo>
                <a:lnTo>
                  <a:pt x="5364356" y="0"/>
                </a:lnTo>
                <a:lnTo>
                  <a:pt x="5364356" y="1437979"/>
                </a:lnTo>
                <a:lnTo>
                  <a:pt x="0" y="14379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68" r="0" b="-268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4509852" y="8167688"/>
            <a:ext cx="207321" cy="259109"/>
            <a:chOff x="0" y="0"/>
            <a:chExt cx="276428" cy="3454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6424" cy="345480"/>
            </a:xfrm>
            <a:custGeom>
              <a:avLst/>
              <a:gdLst/>
              <a:ahLst/>
              <a:cxnLst/>
              <a:rect r="r" b="b" t="t" l="l"/>
              <a:pathLst>
                <a:path h="345480" w="276424">
                  <a:moveTo>
                    <a:pt x="0" y="0"/>
                  </a:moveTo>
                  <a:lnTo>
                    <a:pt x="276424" y="0"/>
                  </a:lnTo>
                  <a:lnTo>
                    <a:pt x="276424" y="345480"/>
                  </a:lnTo>
                  <a:lnTo>
                    <a:pt x="0" y="3454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54" t="0" r="-110356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276428" cy="355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123096" y="8719690"/>
            <a:ext cx="4980984" cy="279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Risk Scores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23096" y="9052617"/>
            <a:ext cx="4980984" cy="23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9"/>
              </a:lnSpc>
            </a:pPr>
            <a:r>
              <a:rPr lang="en-US" sz="13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0–100 continuous score for prioritisation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52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781470"/>
            <a:ext cx="3255616" cy="532800"/>
            <a:chOff x="0" y="0"/>
            <a:chExt cx="4340822" cy="710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40860" cy="710438"/>
            </a:xfrm>
            <a:custGeom>
              <a:avLst/>
              <a:gdLst/>
              <a:ahLst/>
              <a:cxnLst/>
              <a:rect r="r" b="b" t="t" l="l"/>
              <a:pathLst>
                <a:path h="710438" w="434086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4213860" y="0"/>
                  </a:lnTo>
                  <a:cubicBezTo>
                    <a:pt x="4283964" y="0"/>
                    <a:pt x="4340860" y="56896"/>
                    <a:pt x="4340860" y="127000"/>
                  </a:cubicBezTo>
                  <a:lnTo>
                    <a:pt x="4340860" y="583438"/>
                  </a:lnTo>
                  <a:cubicBezTo>
                    <a:pt x="4340860" y="653542"/>
                    <a:pt x="4283964" y="710438"/>
                    <a:pt x="4213860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0A004D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2345" y="1799777"/>
            <a:ext cx="3829793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CHALLENGES &amp; ROADMAP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408634"/>
            <a:ext cx="16303523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What We Overcame &amp; What's Next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88041" y="3738858"/>
            <a:ext cx="8214274" cy="4766520"/>
            <a:chOff x="0" y="0"/>
            <a:chExt cx="10952366" cy="63553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52353" cy="6355334"/>
            </a:xfrm>
            <a:custGeom>
              <a:avLst/>
              <a:gdLst/>
              <a:ahLst/>
              <a:cxnLst/>
              <a:rect r="r" b="b" t="t" l="l"/>
              <a:pathLst>
                <a:path h="6355334" w="10952353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10680192" y="0"/>
                  </a:lnTo>
                  <a:cubicBezTo>
                    <a:pt x="10830561" y="0"/>
                    <a:pt x="10952353" y="121920"/>
                    <a:pt x="10952353" y="272161"/>
                  </a:cubicBezTo>
                  <a:lnTo>
                    <a:pt x="10952353" y="6083173"/>
                  </a:lnTo>
                  <a:cubicBezTo>
                    <a:pt x="10952353" y="6233541"/>
                    <a:pt x="10830433" y="6355334"/>
                    <a:pt x="10680192" y="6355334"/>
                  </a:cubicBezTo>
                  <a:lnTo>
                    <a:pt x="272161" y="6355334"/>
                  </a:lnTo>
                  <a:cubicBezTo>
                    <a:pt x="121920" y="6355334"/>
                    <a:pt x="0" y="6233541"/>
                    <a:pt x="0" y="6083173"/>
                  </a:cubicBezTo>
                  <a:close/>
                </a:path>
              </a:pathLst>
            </a:custGeom>
            <a:solidFill>
              <a:srgbClr val="2B0A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71562" y="4012854"/>
            <a:ext cx="7647232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⚡</a:t>
            </a:r>
            <a:r>
              <a:rPr lang="en-US" sz="27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Hackathon Challenges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033462" y="4746127"/>
            <a:ext cx="3684537" cy="983456"/>
          </a:xfrm>
          <a:custGeom>
            <a:avLst/>
            <a:gdLst/>
            <a:ahLst/>
            <a:cxnLst/>
            <a:rect r="r" b="b" t="t" l="l"/>
            <a:pathLst>
              <a:path h="983456" w="3684537">
                <a:moveTo>
                  <a:pt x="0" y="0"/>
                </a:moveTo>
                <a:lnTo>
                  <a:pt x="3684537" y="0"/>
                </a:lnTo>
                <a:lnTo>
                  <a:pt x="3684537" y="983456"/>
                </a:lnTo>
                <a:lnTo>
                  <a:pt x="0" y="9834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40" r="0" b="-34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31284" y="4698502"/>
            <a:ext cx="328671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Severe class imbalance (0.17% fraud rate)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5034258" y="4746127"/>
            <a:ext cx="3684537" cy="983456"/>
          </a:xfrm>
          <a:custGeom>
            <a:avLst/>
            <a:gdLst/>
            <a:ahLst/>
            <a:cxnLst/>
            <a:rect r="r" b="b" t="t" l="l"/>
            <a:pathLst>
              <a:path h="983456" w="3684537">
                <a:moveTo>
                  <a:pt x="0" y="0"/>
                </a:moveTo>
                <a:lnTo>
                  <a:pt x="3684536" y="0"/>
                </a:lnTo>
                <a:lnTo>
                  <a:pt x="3684536" y="983456"/>
                </a:lnTo>
                <a:lnTo>
                  <a:pt x="0" y="9834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40" r="0" b="-34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432079" y="4698502"/>
            <a:ext cx="328671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Compressed timeline for model optimisation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033462" y="6220416"/>
            <a:ext cx="3684537" cy="983456"/>
          </a:xfrm>
          <a:custGeom>
            <a:avLst/>
            <a:gdLst/>
            <a:ahLst/>
            <a:cxnLst/>
            <a:rect r="r" b="b" t="t" l="l"/>
            <a:pathLst>
              <a:path h="983456" w="3684537">
                <a:moveTo>
                  <a:pt x="0" y="0"/>
                </a:moveTo>
                <a:lnTo>
                  <a:pt x="3684537" y="0"/>
                </a:lnTo>
                <a:lnTo>
                  <a:pt x="3684537" y="983456"/>
                </a:lnTo>
                <a:lnTo>
                  <a:pt x="0" y="9834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40" r="0" b="-34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31284" y="6172791"/>
            <a:ext cx="328671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Fast deployment under constraints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5034258" y="6220416"/>
            <a:ext cx="3684537" cy="983456"/>
          </a:xfrm>
          <a:custGeom>
            <a:avLst/>
            <a:gdLst/>
            <a:ahLst/>
            <a:cxnLst/>
            <a:rect r="r" b="b" t="t" l="l"/>
            <a:pathLst>
              <a:path h="983456" w="3684537">
                <a:moveTo>
                  <a:pt x="0" y="0"/>
                </a:moveTo>
                <a:lnTo>
                  <a:pt x="3684536" y="0"/>
                </a:lnTo>
                <a:lnTo>
                  <a:pt x="3684536" y="983456"/>
                </a:lnTo>
                <a:lnTo>
                  <a:pt x="0" y="9834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40" r="0" b="-34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432079" y="6172791"/>
            <a:ext cx="328671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Designing a practical investigator workflow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99406" y="4012854"/>
            <a:ext cx="7805890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🚀</a:t>
            </a:r>
            <a:r>
              <a:rPr lang="en-US" sz="27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Future Improvements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9461306" y="4746127"/>
            <a:ext cx="3763861" cy="983456"/>
          </a:xfrm>
          <a:custGeom>
            <a:avLst/>
            <a:gdLst/>
            <a:ahLst/>
            <a:cxnLst/>
            <a:rect r="r" b="b" t="t" l="l"/>
            <a:pathLst>
              <a:path h="983456" w="3763861">
                <a:moveTo>
                  <a:pt x="0" y="0"/>
                </a:moveTo>
                <a:lnTo>
                  <a:pt x="3763861" y="0"/>
                </a:lnTo>
                <a:lnTo>
                  <a:pt x="3763861" y="983456"/>
                </a:lnTo>
                <a:lnTo>
                  <a:pt x="0" y="9834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55" r="0" b="-255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859118" y="4698502"/>
            <a:ext cx="336604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Real-time fraud detection via API</a:t>
            </a:r>
          </a:p>
        </p:txBody>
      </p:sp>
      <p:sp>
        <p:nvSpPr>
          <p:cNvPr name="Freeform 24" id="24" descr="preencoded.png"/>
          <p:cNvSpPr/>
          <p:nvPr/>
        </p:nvSpPr>
        <p:spPr>
          <a:xfrm flipH="false" flipV="false" rot="0">
            <a:off x="13541426" y="4746127"/>
            <a:ext cx="3763861" cy="983456"/>
          </a:xfrm>
          <a:custGeom>
            <a:avLst/>
            <a:gdLst/>
            <a:ahLst/>
            <a:cxnLst/>
            <a:rect r="r" b="b" t="t" l="l"/>
            <a:pathLst>
              <a:path h="983456" w="3763861">
                <a:moveTo>
                  <a:pt x="0" y="0"/>
                </a:moveTo>
                <a:lnTo>
                  <a:pt x="3763861" y="0"/>
                </a:lnTo>
                <a:lnTo>
                  <a:pt x="3763861" y="983456"/>
                </a:lnTo>
                <a:lnTo>
                  <a:pt x="0" y="9834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55" r="0" b="-255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939237" y="4698502"/>
            <a:ext cx="336604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Explainable AI using SHAP values</a:t>
            </a:r>
          </a:p>
        </p:txBody>
      </p:sp>
      <p:sp>
        <p:nvSpPr>
          <p:cNvPr name="Freeform 26" id="26" descr="preencoded.png"/>
          <p:cNvSpPr/>
          <p:nvPr/>
        </p:nvSpPr>
        <p:spPr>
          <a:xfrm flipH="false" flipV="false" rot="0">
            <a:off x="9461306" y="6220416"/>
            <a:ext cx="3763861" cy="983456"/>
          </a:xfrm>
          <a:custGeom>
            <a:avLst/>
            <a:gdLst/>
            <a:ahLst/>
            <a:cxnLst/>
            <a:rect r="r" b="b" t="t" l="l"/>
            <a:pathLst>
              <a:path h="983456" w="3763861">
                <a:moveTo>
                  <a:pt x="0" y="0"/>
                </a:moveTo>
                <a:lnTo>
                  <a:pt x="3763861" y="0"/>
                </a:lnTo>
                <a:lnTo>
                  <a:pt x="3763861" y="983456"/>
                </a:lnTo>
                <a:lnTo>
                  <a:pt x="0" y="9834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55" r="0" b="-255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859118" y="6172791"/>
            <a:ext cx="336604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Live transaction monitoring pipeline</a:t>
            </a:r>
          </a:p>
        </p:txBody>
      </p:sp>
      <p:sp>
        <p:nvSpPr>
          <p:cNvPr name="Freeform 28" id="28" descr="preencoded.png"/>
          <p:cNvSpPr/>
          <p:nvPr/>
        </p:nvSpPr>
        <p:spPr>
          <a:xfrm flipH="false" flipV="false" rot="0">
            <a:off x="13541426" y="6220416"/>
            <a:ext cx="3763861" cy="983456"/>
          </a:xfrm>
          <a:custGeom>
            <a:avLst/>
            <a:gdLst/>
            <a:ahLst/>
            <a:cxnLst/>
            <a:rect r="r" b="b" t="t" l="l"/>
            <a:pathLst>
              <a:path h="983456" w="3763861">
                <a:moveTo>
                  <a:pt x="0" y="0"/>
                </a:moveTo>
                <a:lnTo>
                  <a:pt x="3763861" y="0"/>
                </a:lnTo>
                <a:lnTo>
                  <a:pt x="3763861" y="983456"/>
                </a:lnTo>
                <a:lnTo>
                  <a:pt x="0" y="9834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55" r="0" b="-255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3939237" y="6172791"/>
            <a:ext cx="336604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Fraud ring &amp; network detection</a:t>
            </a:r>
          </a:p>
        </p:txBody>
      </p:sp>
      <p:sp>
        <p:nvSpPr>
          <p:cNvPr name="Freeform 30" id="30" descr="preencoded.png"/>
          <p:cNvSpPr/>
          <p:nvPr/>
        </p:nvSpPr>
        <p:spPr>
          <a:xfrm flipH="false" flipV="false" rot="0">
            <a:off x="9461306" y="7694714"/>
            <a:ext cx="7843990" cy="529828"/>
          </a:xfrm>
          <a:custGeom>
            <a:avLst/>
            <a:gdLst/>
            <a:ahLst/>
            <a:cxnLst/>
            <a:rect r="r" b="b" t="t" l="l"/>
            <a:pathLst>
              <a:path h="529828" w="7843990">
                <a:moveTo>
                  <a:pt x="0" y="0"/>
                </a:moveTo>
                <a:lnTo>
                  <a:pt x="7843990" y="0"/>
                </a:lnTo>
                <a:lnTo>
                  <a:pt x="7843990" y="529828"/>
                </a:lnTo>
                <a:lnTo>
                  <a:pt x="0" y="5298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307" r="0" b="-307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9859118" y="7647089"/>
            <a:ext cx="7446169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Cloud deployment with auto-retraining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52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50238" y="842667"/>
            <a:ext cx="1455391" cy="385315"/>
            <a:chOff x="0" y="0"/>
            <a:chExt cx="1940522" cy="5137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433" cy="513715"/>
            </a:xfrm>
            <a:custGeom>
              <a:avLst/>
              <a:gdLst/>
              <a:ahLst/>
              <a:cxnLst/>
              <a:rect r="r" b="b" t="t" l="l"/>
              <a:pathLst>
                <a:path h="513715" w="1940433">
                  <a:moveTo>
                    <a:pt x="0" y="99187"/>
                  </a:moveTo>
                  <a:cubicBezTo>
                    <a:pt x="0" y="44450"/>
                    <a:pt x="44450" y="0"/>
                    <a:pt x="99187" y="0"/>
                  </a:cubicBezTo>
                  <a:lnTo>
                    <a:pt x="1841246" y="0"/>
                  </a:lnTo>
                  <a:cubicBezTo>
                    <a:pt x="1896110" y="0"/>
                    <a:pt x="1940433" y="44450"/>
                    <a:pt x="1940433" y="99187"/>
                  </a:cubicBezTo>
                  <a:lnTo>
                    <a:pt x="1940433" y="414528"/>
                  </a:lnTo>
                  <a:cubicBezTo>
                    <a:pt x="1940433" y="469392"/>
                    <a:pt x="1895983" y="513715"/>
                    <a:pt x="1841246" y="513715"/>
                  </a:cubicBezTo>
                  <a:lnTo>
                    <a:pt x="99187" y="513715"/>
                  </a:lnTo>
                  <a:cubicBezTo>
                    <a:pt x="44450" y="513715"/>
                    <a:pt x="0" y="469265"/>
                    <a:pt x="0" y="414528"/>
                  </a:cubicBezTo>
                  <a:close/>
                </a:path>
              </a:pathLst>
            </a:custGeom>
            <a:solidFill>
              <a:srgbClr val="0A004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983141" y="880462"/>
            <a:ext cx="2103987" cy="28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3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8" y="1278141"/>
            <a:ext cx="9445523" cy="1403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6"/>
              </a:lnSpc>
            </a:pPr>
            <a:r>
              <a:rPr lang="en-US" sz="43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Scalable. Practical. Ready for the Real World.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50238" y="2903039"/>
            <a:ext cx="9445523" cy="98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Smart Credit Card Fraud Investigation demonstrates how machine learning can help financial institutions detect fraud efficiently — combining strong model performance with an investigator-friendly dashboard and a re-trainable pipeline built for the future.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845476" y="4077595"/>
            <a:ext cx="9455048" cy="4861322"/>
            <a:chOff x="0" y="0"/>
            <a:chExt cx="12606731" cy="64817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606782" cy="6481826"/>
            </a:xfrm>
            <a:custGeom>
              <a:avLst/>
              <a:gdLst/>
              <a:ahLst/>
              <a:cxnLst/>
              <a:rect r="r" b="b" t="t" l="l"/>
              <a:pathLst>
                <a:path h="6481826" w="12606782">
                  <a:moveTo>
                    <a:pt x="0" y="124333"/>
                  </a:moveTo>
                  <a:cubicBezTo>
                    <a:pt x="0" y="55626"/>
                    <a:pt x="55626" y="0"/>
                    <a:pt x="124333" y="0"/>
                  </a:cubicBezTo>
                  <a:lnTo>
                    <a:pt x="12482449" y="0"/>
                  </a:lnTo>
                  <a:cubicBezTo>
                    <a:pt x="12551156" y="0"/>
                    <a:pt x="12606782" y="55626"/>
                    <a:pt x="12606782" y="124333"/>
                  </a:cubicBezTo>
                  <a:lnTo>
                    <a:pt x="12606782" y="6357493"/>
                  </a:lnTo>
                  <a:cubicBezTo>
                    <a:pt x="12606782" y="6426200"/>
                    <a:pt x="12551156" y="6481826"/>
                    <a:pt x="12482449" y="6481826"/>
                  </a:cubicBezTo>
                  <a:lnTo>
                    <a:pt x="124333" y="6481826"/>
                  </a:lnTo>
                  <a:cubicBezTo>
                    <a:pt x="55626" y="6481826"/>
                    <a:pt x="0" y="6426200"/>
                    <a:pt x="0" y="6357493"/>
                  </a:cubicBezTo>
                  <a:close/>
                </a:path>
              </a:pathLst>
            </a:custGeom>
            <a:solidFill>
              <a:srgbClr val="110080"/>
            </a:solidFill>
            <a:ln w="9526" cap="sq">
              <a:solidFill>
                <a:srgbClr val="2A1999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7859763" y="4091883"/>
            <a:ext cx="9426473" cy="1208189"/>
            <a:chOff x="0" y="0"/>
            <a:chExt cx="12568631" cy="16109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68682" cy="1610868"/>
            </a:xfrm>
            <a:custGeom>
              <a:avLst/>
              <a:gdLst/>
              <a:ahLst/>
              <a:cxnLst/>
              <a:rect r="r" b="b" t="t" l="l"/>
              <a:pathLst>
                <a:path h="1610868" w="12568682">
                  <a:moveTo>
                    <a:pt x="0" y="0"/>
                  </a:moveTo>
                  <a:lnTo>
                    <a:pt x="12568682" y="0"/>
                  </a:lnTo>
                  <a:lnTo>
                    <a:pt x="12568682" y="1610868"/>
                  </a:lnTo>
                  <a:lnTo>
                    <a:pt x="0" y="1610868"/>
                  </a:lnTo>
                  <a:close/>
                </a:path>
              </a:pathLst>
            </a:custGeom>
            <a:solidFill>
              <a:srgbClr val="11008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081220" y="4303814"/>
            <a:ext cx="8983561" cy="35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90.59% Precision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81220" y="4725000"/>
            <a:ext cx="8983561" cy="35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Minimal false alarms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859763" y="5300072"/>
            <a:ext cx="9426473" cy="1208189"/>
            <a:chOff x="0" y="0"/>
            <a:chExt cx="12568631" cy="16109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568682" cy="1610868"/>
            </a:xfrm>
            <a:custGeom>
              <a:avLst/>
              <a:gdLst/>
              <a:ahLst/>
              <a:cxnLst/>
              <a:rect r="r" b="b" t="t" l="l"/>
              <a:pathLst>
                <a:path h="1610868" w="12568682">
                  <a:moveTo>
                    <a:pt x="0" y="0"/>
                  </a:moveTo>
                  <a:lnTo>
                    <a:pt x="12568682" y="0"/>
                  </a:lnTo>
                  <a:lnTo>
                    <a:pt x="12568682" y="1610868"/>
                  </a:lnTo>
                  <a:lnTo>
                    <a:pt x="0" y="1610868"/>
                  </a:lnTo>
                  <a:close/>
                </a:path>
              </a:pathLst>
            </a:custGeom>
            <a:solidFill>
              <a:srgbClr val="11008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859763" y="5300072"/>
            <a:ext cx="9426473" cy="28575"/>
            <a:chOff x="0" y="0"/>
            <a:chExt cx="12568631" cy="38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568682" cy="38100"/>
            </a:xfrm>
            <a:custGeom>
              <a:avLst/>
              <a:gdLst/>
              <a:ahLst/>
              <a:cxnLst/>
              <a:rect r="r" b="b" t="t" l="l"/>
              <a:pathLst>
                <a:path h="38100" w="12568682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2549632" y="0"/>
                  </a:lnTo>
                  <a:cubicBezTo>
                    <a:pt x="12560173" y="0"/>
                    <a:pt x="12568682" y="8509"/>
                    <a:pt x="12568682" y="19050"/>
                  </a:cubicBezTo>
                  <a:cubicBezTo>
                    <a:pt x="12568682" y="29591"/>
                    <a:pt x="12560173" y="38100"/>
                    <a:pt x="1254963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2A1999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081220" y="5512003"/>
            <a:ext cx="8983561" cy="35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Risk Scores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81220" y="5933180"/>
            <a:ext cx="8983561" cy="35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Actionable prioritisation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859763" y="6508252"/>
            <a:ext cx="9426473" cy="1208189"/>
            <a:chOff x="0" y="0"/>
            <a:chExt cx="12568631" cy="161091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568682" cy="1610868"/>
            </a:xfrm>
            <a:custGeom>
              <a:avLst/>
              <a:gdLst/>
              <a:ahLst/>
              <a:cxnLst/>
              <a:rect r="r" b="b" t="t" l="l"/>
              <a:pathLst>
                <a:path h="1610868" w="12568682">
                  <a:moveTo>
                    <a:pt x="0" y="0"/>
                  </a:moveTo>
                  <a:lnTo>
                    <a:pt x="12568682" y="0"/>
                  </a:lnTo>
                  <a:lnTo>
                    <a:pt x="12568682" y="1610868"/>
                  </a:lnTo>
                  <a:lnTo>
                    <a:pt x="0" y="1610868"/>
                  </a:lnTo>
                  <a:close/>
                </a:path>
              </a:pathLst>
            </a:custGeom>
            <a:solidFill>
              <a:srgbClr val="11008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859763" y="6508252"/>
            <a:ext cx="9426473" cy="28575"/>
            <a:chOff x="0" y="0"/>
            <a:chExt cx="12568631" cy="38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568682" cy="38100"/>
            </a:xfrm>
            <a:custGeom>
              <a:avLst/>
              <a:gdLst/>
              <a:ahLst/>
              <a:cxnLst/>
              <a:rect r="r" b="b" t="t" l="l"/>
              <a:pathLst>
                <a:path h="38100" w="12568682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2549632" y="0"/>
                  </a:lnTo>
                  <a:cubicBezTo>
                    <a:pt x="12560173" y="0"/>
                    <a:pt x="12568682" y="8509"/>
                    <a:pt x="12568682" y="19050"/>
                  </a:cubicBezTo>
                  <a:cubicBezTo>
                    <a:pt x="12568682" y="29591"/>
                    <a:pt x="12560173" y="38100"/>
                    <a:pt x="1254963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2A1999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8081220" y="6720183"/>
            <a:ext cx="8983561" cy="35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Re-trainable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081220" y="7141369"/>
            <a:ext cx="8983561" cy="35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Adapts to new patterns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859763" y="7716441"/>
            <a:ext cx="9426473" cy="1208189"/>
            <a:chOff x="0" y="0"/>
            <a:chExt cx="12568631" cy="161091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568682" cy="1610868"/>
            </a:xfrm>
            <a:custGeom>
              <a:avLst/>
              <a:gdLst/>
              <a:ahLst/>
              <a:cxnLst/>
              <a:rect r="r" b="b" t="t" l="l"/>
              <a:pathLst>
                <a:path h="1610868" w="12568682">
                  <a:moveTo>
                    <a:pt x="0" y="0"/>
                  </a:moveTo>
                  <a:lnTo>
                    <a:pt x="12568682" y="0"/>
                  </a:lnTo>
                  <a:lnTo>
                    <a:pt x="12568682" y="1610868"/>
                  </a:lnTo>
                  <a:lnTo>
                    <a:pt x="0" y="1610868"/>
                  </a:lnTo>
                  <a:close/>
                </a:path>
              </a:pathLst>
            </a:custGeom>
            <a:solidFill>
              <a:srgbClr val="11008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859763" y="7716441"/>
            <a:ext cx="9426473" cy="28575"/>
            <a:chOff x="0" y="0"/>
            <a:chExt cx="12568631" cy="381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568682" cy="38100"/>
            </a:xfrm>
            <a:custGeom>
              <a:avLst/>
              <a:gdLst/>
              <a:ahLst/>
              <a:cxnLst/>
              <a:rect r="r" b="b" t="t" l="l"/>
              <a:pathLst>
                <a:path h="38100" w="12568682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2549632" y="0"/>
                  </a:lnTo>
                  <a:cubicBezTo>
                    <a:pt x="12560173" y="0"/>
                    <a:pt x="12568682" y="8509"/>
                    <a:pt x="12568682" y="19050"/>
                  </a:cubicBezTo>
                  <a:cubicBezTo>
                    <a:pt x="12568682" y="29591"/>
                    <a:pt x="12560173" y="38100"/>
                    <a:pt x="1254963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2A1999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8081220" y="7928372"/>
            <a:ext cx="8983561" cy="35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Dashboard Ready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081220" y="8349558"/>
            <a:ext cx="8983561" cy="35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No-code investigator tool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850238" y="9090717"/>
            <a:ext cx="10359923" cy="35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Draev Devs</a:t>
            </a:r>
            <a:r>
              <a:rPr lang="en-US" sz="17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— Shubham Vishwakarma · Tejas Shah · </a:t>
            </a:r>
            <a:r>
              <a:rPr lang="en-US" sz="1700">
                <a:solidFill>
                  <a:srgbClr val="2B0AFF"/>
                </a:solidFill>
                <a:latin typeface="Inter"/>
                <a:ea typeface="Inter"/>
                <a:cs typeface="Inter"/>
                <a:sym typeface="Inter"/>
              </a:rPr>
              <a:t>MSoC 2026 – Data Science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DAHOzsJ6hEc</dc:identifier>
  <dcterms:modified xsi:type="dcterms:W3CDTF">2011-08-01T06:04:30Z</dcterms:modified>
  <cp:revision>1</cp:revision>
  <dc:title>Smart-Credit-Card-Fraud-Investigation.pptx</dc:title>
</cp:coreProperties>
</file>